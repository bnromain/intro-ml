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E37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Classification d'images de chiens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 i="1">
                <a:solidFill>
                  <a:srgbClr val="CFDBEC"/>
                </a:solidFill>
                <a:latin typeface="Calibri"/>
              </a:rPr>
              <a:t>D'un pipeline classique aux réseaux profonds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Evrard Lecureur   ·   Romain Ben   ·   Zouhair Saitout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AEB9CC"/>
                </a:solidFill>
                <a:latin typeface="Calibri"/>
              </a:rPr>
              <a:t>Polytech Nice Sophia — MAM3 — Introduction au Machine Learning</a:t>
            </a:r>
          </a:p>
          <a:p>
            <a:pPr algn="ctr"/>
            <a:r>
              <a:rPr sz="1400" b="0" i="0">
                <a:solidFill>
                  <a:srgbClr val="AEB9CC"/>
                </a:solidFill>
                <a:latin typeface="Calibri"/>
              </a:rPr>
              <a:t>Encadrants : Mahmoud Elsawy &amp; Jean-Luc Bouchot (INRIA)   ·  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62A4A"/>
                </a:solidFill>
                <a:latin typeface="Calibri"/>
              </a:rPr>
              <a:t>Le projet</a:t>
            </a:r>
          </a:p>
          <a:p>
            <a:pPr algn="l"/>
            <a:r>
              <a:rPr sz="3000" b="1" i="0">
                <a:solidFill>
                  <a:srgbClr val="162A4A"/>
                </a:solidFill>
                <a:latin typeface="Calibri"/>
              </a:rPr>
              <a:t>en bref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3C3C3C"/>
                </a:solidFill>
                <a:latin typeface="Calibri"/>
              </a:rPr>
              <a:t>Reconnaître la race</a:t>
            </a:r>
          </a:p>
          <a:p>
            <a:pPr algn="l"/>
            <a:r>
              <a:rPr sz="1800" b="0" i="0">
                <a:solidFill>
                  <a:srgbClr val="3C3C3C"/>
                </a:solidFill>
                <a:latin typeface="Calibri"/>
              </a:rPr>
              <a:t>d'un chien à partir</a:t>
            </a:r>
          </a:p>
          <a:p>
            <a:pPr algn="l"/>
            <a:r>
              <a:rPr sz="1800" b="0" i="0">
                <a:solidFill>
                  <a:srgbClr val="3C3C3C"/>
                </a:solidFill>
                <a:latin typeface="Calibri"/>
              </a:rPr>
              <a:t>d'une photo.</a:t>
            </a:r>
          </a:p>
          <a:p>
            <a:pPr algn="l"/>
            <a:r>
              <a:rPr sz="1800" b="0" i="0">
                <a:solidFill>
                  <a:srgbClr val="3C3C3C"/>
                </a:solidFill>
                <a:latin typeface="Calibri"/>
              </a:rPr>
              <a:t/>
            </a:r>
          </a:p>
          <a:p>
            <a:pPr algn="l"/>
            <a:r>
              <a:rPr sz="1800" b="0" i="0">
                <a:solidFill>
                  <a:srgbClr val="3C3C3C"/>
                </a:solidFill>
                <a:latin typeface="Calibri"/>
              </a:rPr>
              <a:t>6 races · 1 petit jeu</a:t>
            </a:r>
          </a:p>
          <a:p>
            <a:pPr algn="l"/>
            <a:r>
              <a:rPr sz="1800" b="0" i="0">
                <a:solidFill>
                  <a:srgbClr val="3C3C3C"/>
                </a:solidFill>
                <a:latin typeface="Calibri"/>
              </a:rPr>
              <a:t>de données (Stanford Dogs).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914400"/>
            <a:ext cx="109728" cy="822960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914400"/>
            <a:ext cx="5669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3C3C3C"/>
                </a:solidFill>
                <a:latin typeface="Calibri"/>
              </a:rPr>
              <a:t>1.  Données &amp; préparation des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914400"/>
            <a:ext cx="1371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5E9E"/>
                </a:solidFill>
                <a:latin typeface="Calibri"/>
              </a:rPr>
              <a:t>Evrard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938528"/>
            <a:ext cx="109728" cy="822960"/>
          </a:xfrm>
          <a:prstGeom prst="rect">
            <a:avLst/>
          </a:prstGeom>
          <a:solidFill>
            <a:srgbClr val="E37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938528"/>
            <a:ext cx="5669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3C3C3C"/>
                </a:solidFill>
                <a:latin typeface="Calibri"/>
              </a:rPr>
              <a:t>2.  Caractéristiques : PCA &amp; HOG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1938528"/>
            <a:ext cx="1371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37B28"/>
                </a:solidFill>
                <a:latin typeface="Calibri"/>
              </a:rPr>
              <a:t>Romain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2962656"/>
            <a:ext cx="109728" cy="822960"/>
          </a:xfrm>
          <a:prstGeom prst="rect">
            <a:avLst/>
          </a:prstGeom>
          <a:solidFill>
            <a:srgbClr val="E37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2962656"/>
            <a:ext cx="5669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3C3C3C"/>
                </a:solidFill>
                <a:latin typeface="Calibri"/>
              </a:rPr>
              <a:t>3.  Classifieur kNN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2962656"/>
            <a:ext cx="1371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37B28"/>
                </a:solidFill>
                <a:latin typeface="Calibri"/>
              </a:rPr>
              <a:t>Romain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3986784"/>
            <a:ext cx="109728" cy="822960"/>
          </a:xfrm>
          <a:prstGeom prst="rect">
            <a:avLst/>
          </a:prstGeom>
          <a:solidFill>
            <a:srgbClr val="3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3986784"/>
            <a:ext cx="5669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3C3C3C"/>
                </a:solidFill>
                <a:latin typeface="Calibri"/>
              </a:rPr>
              <a:t>4.  Classifieur SVM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3986784"/>
            <a:ext cx="1371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F8A5B"/>
                </a:solidFill>
                <a:latin typeface="Calibri"/>
              </a:rPr>
              <a:t>Zouhair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5010912"/>
            <a:ext cx="109728" cy="822960"/>
          </a:xfrm>
          <a:prstGeom prst="rect">
            <a:avLst/>
          </a:prstGeom>
          <a:solidFill>
            <a:srgbClr val="3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5010912"/>
            <a:ext cx="5669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3C3C3C"/>
                </a:solidFill>
                <a:latin typeface="Calibri"/>
              </a:rPr>
              <a:t>5.  Limites &amp; transfer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5010912"/>
            <a:ext cx="1371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F8A5B"/>
                </a:solidFill>
                <a:latin typeface="Calibri"/>
              </a:rPr>
              <a:t>Zouhair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62A4A"/>
                </a:solidFill>
                <a:latin typeface="Calibri"/>
              </a:rPr>
              <a:t>Les données : 6 races, classes équilibrées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0" y="365760"/>
            <a:ext cx="1737360" cy="457200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Evrard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Calibri"/>
              </a:rPr>
              <a:t>1 · Données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2E5E9E"/>
                </a:solidFill>
                <a:latin typeface="Calibri"/>
              </a:rPr>
              <a:t>›  </a:t>
            </a:r>
            <a:r>
              <a:rPr sz="1800">
                <a:solidFill>
                  <a:srgbClr val="3C3C3C"/>
                </a:solidFill>
                <a:latin typeface="Calibri"/>
              </a:rPr>
              <a:t>Jeu SmallDB tiré de Stanford Dogs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2E5E9E"/>
                </a:solidFill>
                <a:latin typeface="Calibri"/>
              </a:rPr>
              <a:t>›  </a:t>
            </a:r>
            <a:r>
              <a:rPr sz="1800">
                <a:solidFill>
                  <a:srgbClr val="3C3C3C"/>
                </a:solidFill>
                <a:latin typeface="Calibri"/>
              </a:rPr>
              <a:t>6 races : Chihuahua, basset, Kerry blue
terrier, groenendael, malinois, chow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2E5E9E"/>
                </a:solidFill>
                <a:latin typeface="Calibri"/>
              </a:rPr>
              <a:t>›  </a:t>
            </a:r>
            <a:r>
              <a:rPr sz="1800">
                <a:solidFill>
                  <a:srgbClr val="3C3C3C"/>
                </a:solidFill>
                <a:latin typeface="Calibri"/>
              </a:rPr>
              <a:t>Un XML par photo = cadre du chien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2E5E9E"/>
                </a:solidFill>
                <a:latin typeface="Calibri"/>
              </a:rPr>
              <a:t>›  </a:t>
            </a:r>
            <a:r>
              <a:rPr sz="1800">
                <a:solidFill>
                  <a:srgbClr val="3C3C3C"/>
                </a:solidFill>
                <a:latin typeface="Calibri"/>
              </a:rPr>
              <a:t>Classes équilibrées ?  Entropie de
Shannon  H = 1,786  ≈  ln(6) = 1,792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2E5E9E"/>
                </a:solidFill>
                <a:latin typeface="Calibri"/>
              </a:rPr>
              <a:t>›  </a:t>
            </a:r>
            <a:r>
              <a:rPr sz="1800">
                <a:solidFill>
                  <a:srgbClr val="3C3C3C"/>
                </a:solidFill>
                <a:latin typeface="Calibri"/>
              </a:rPr>
              <a:t>→ on peut juger au simple taux
de bonnes réponses</a:t>
            </a:r>
          </a:p>
        </p:txBody>
      </p:sp>
      <p:pic>
        <p:nvPicPr>
          <p:cNvPr id="9" name="Picture 8" descr="class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772613"/>
            <a:ext cx="5760720" cy="37699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62A4A"/>
                </a:solidFill>
                <a:latin typeface="Calibri"/>
              </a:rPr>
              <a:t>Préparation 1 : découper autour du chien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0" y="365760"/>
            <a:ext cx="1737360" cy="457200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Evrard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Calibri"/>
              </a:rPr>
              <a:t>1 · Données</a:t>
            </a:r>
          </a:p>
        </p:txBody>
      </p:sp>
      <p:pic>
        <p:nvPicPr>
          <p:cNvPr id="8" name="Picture 7" descr="bounding_box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87725"/>
            <a:ext cx="7589520" cy="4596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0" y="201168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2E5E9E"/>
                </a:solidFill>
                <a:latin typeface="Calibri"/>
              </a:rPr>
              <a:t>›  </a:t>
            </a:r>
            <a:r>
              <a:rPr sz="1700">
                <a:solidFill>
                  <a:srgbClr val="3C3C3C"/>
                </a:solidFill>
                <a:latin typeface="Calibri"/>
              </a:rPr>
              <a:t>Beaucoup de décor parasite
sur les photos brutes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2E5E9E"/>
                </a:solidFill>
                <a:latin typeface="Calibri"/>
              </a:rPr>
              <a:t>›  </a:t>
            </a:r>
            <a:r>
              <a:rPr sz="1700">
                <a:solidFill>
                  <a:srgbClr val="3C3C3C"/>
                </a:solidFill>
                <a:latin typeface="Calibri"/>
              </a:rPr>
              <a:t>Le cadre XML sert à recadrer
sur le chien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2E5E9E"/>
                </a:solidFill>
                <a:latin typeface="Calibri"/>
              </a:rPr>
              <a:t>›  </a:t>
            </a:r>
            <a:r>
              <a:rPr sz="1700">
                <a:solidFill>
                  <a:srgbClr val="3C3C3C"/>
                </a:solidFill>
                <a:latin typeface="Calibri"/>
              </a:rPr>
              <a:t>On garde l'essentiel,
on enlève le bruit de fond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62A4A"/>
                </a:solidFill>
                <a:latin typeface="Calibri"/>
              </a:rPr>
              <a:t>Préparation 2 : même taille, sans déformer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0" y="365760"/>
            <a:ext cx="1737360" cy="457200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Evrard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Calibri"/>
              </a:rPr>
              <a:t>1 · Données</a:t>
            </a:r>
          </a:p>
        </p:txBody>
      </p:sp>
      <p:pic>
        <p:nvPicPr>
          <p:cNvPr id="8" name="Picture 7" descr="preprocessing_comparaison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622" y="1463040"/>
            <a:ext cx="4691556" cy="4846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0" y="18288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2E5E9E"/>
                </a:solidFill>
                <a:latin typeface="Calibri"/>
              </a:rPr>
              <a:t>›  </a:t>
            </a:r>
            <a:r>
              <a:rPr sz="1700">
                <a:solidFill>
                  <a:srgbClr val="3C3C3C"/>
                </a:solidFill>
                <a:latin typeface="Calibri"/>
              </a:rPr>
              <a:t>Cible : 64×64 px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2E5E9E"/>
                </a:solidFill>
                <a:latin typeface="Calibri"/>
              </a:rPr>
              <a:t>›  </a:t>
            </a:r>
            <a:r>
              <a:rPr sz="1700">
                <a:solidFill>
                  <a:srgbClr val="3C3C3C"/>
                </a:solidFill>
                <a:latin typeface="Calibri"/>
              </a:rPr>
              <a:t>On garde les proportions
(pas d'écrasement)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2E5E9E"/>
                </a:solidFill>
                <a:latin typeface="Calibri"/>
              </a:rPr>
              <a:t>›  </a:t>
            </a:r>
            <a:r>
              <a:rPr sz="1700">
                <a:solidFill>
                  <a:srgbClr val="3C3C3C"/>
                </a:solidFill>
                <a:latin typeface="Calibri"/>
              </a:rPr>
              <a:t>Bords vides à remplir : noir, blanc,
continu, miroir, floutage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2E5E9E"/>
                </a:solidFill>
                <a:latin typeface="Calibri"/>
              </a:rPr>
              <a:t>›  </a:t>
            </a:r>
            <a:r>
              <a:rPr sz="1700">
                <a:solidFill>
                  <a:srgbClr val="3C3C3C"/>
                </a:solidFill>
                <a:latin typeface="Calibri"/>
              </a:rPr>
              <a:t>Choix : propagation de flou
pour éviter de faux contours HOG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37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62A4A"/>
                </a:solidFill>
                <a:latin typeface="Calibri"/>
              </a:rPr>
              <a:t>PCA : résumer l'image sur peu d'axes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0" y="365760"/>
            <a:ext cx="1737360" cy="457200"/>
          </a:xfrm>
          <a:prstGeom prst="rect">
            <a:avLst/>
          </a:prstGeom>
          <a:solidFill>
            <a:srgbClr val="E37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Calibri"/>
              </a:rPr>
              <a:t>2 · Caractéristiques</a:t>
            </a:r>
          </a:p>
        </p:txBody>
      </p:sp>
      <p:pic>
        <p:nvPicPr>
          <p:cNvPr id="8" name="Picture 7" descr="pca_reconstr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10369"/>
            <a:ext cx="6400800" cy="3151662"/>
          </a:xfrm>
          <a:prstGeom prst="rect">
            <a:avLst/>
          </a:prstGeom>
        </p:spPr>
      </p:pic>
      <p:pic>
        <p:nvPicPr>
          <p:cNvPr id="9" name="Picture 8" descr="pca_approximatr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305" y="1417320"/>
            <a:ext cx="2708030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0" y="44805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E37B28"/>
                </a:solidFill>
                <a:latin typeface="Calibri"/>
              </a:rPr>
              <a:t>›  </a:t>
            </a:r>
            <a:r>
              <a:rPr sz="1500">
                <a:solidFill>
                  <a:srgbClr val="3C3C3C"/>
                </a:solidFill>
                <a:latin typeface="Calibri"/>
              </a:rPr>
              <a:t>64×64 = 4 096 valeurs → trop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E37B28"/>
                </a:solidFill>
                <a:latin typeface="Calibri"/>
              </a:rPr>
              <a:t>›  </a:t>
            </a:r>
            <a:r>
              <a:rPr sz="1500">
                <a:solidFill>
                  <a:srgbClr val="3C3C3C"/>
                </a:solidFill>
                <a:latin typeface="Calibri"/>
              </a:rPr>
              <a:t>90 % de l'info sur très peu d'axes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E37B28"/>
                </a:solidFill>
                <a:latin typeface="Calibri"/>
              </a:rPr>
              <a:t>›  </a:t>
            </a:r>
            <a:r>
              <a:rPr sz="1500">
                <a:solidFill>
                  <a:srgbClr val="3C3C3C"/>
                </a:solidFill>
                <a:latin typeface="Calibri"/>
              </a:rPr>
              <a:t>Reconstruction : flou → net quand k 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37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62A4A"/>
                </a:solidFill>
                <a:latin typeface="Calibri"/>
              </a:rPr>
              <a:t>PCA : les races sont déjà mélangées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0" y="365760"/>
            <a:ext cx="1737360" cy="457200"/>
          </a:xfrm>
          <a:prstGeom prst="rect">
            <a:avLst/>
          </a:prstGeom>
          <a:solidFill>
            <a:srgbClr val="E37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Calibri"/>
              </a:rPr>
              <a:t>2 · Caractéristiques</a:t>
            </a:r>
          </a:p>
        </p:txBody>
      </p:sp>
      <p:pic>
        <p:nvPicPr>
          <p:cNvPr id="8" name="Picture 7" descr="pca_scatter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386" y="1463040"/>
            <a:ext cx="6143067" cy="4846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589520" y="2103120"/>
            <a:ext cx="4023360" cy="2743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331720"/>
            <a:ext cx="3657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62A4A"/>
                </a:solidFill>
                <a:latin typeface="Calibri"/>
              </a:rPr>
              <a:t>Message clé</a:t>
            </a:r>
          </a:p>
          <a:p>
            <a:pPr algn="l"/>
            <a:r>
              <a:rPr sz="1800" b="0" i="0">
                <a:solidFill>
                  <a:srgbClr val="162A4A"/>
                </a:solidFill>
                <a:latin typeface="Calibri"/>
              </a:rPr>
              <a:t/>
            </a:r>
          </a:p>
          <a:p>
            <a:pPr algn="l"/>
            <a:r>
              <a:rPr sz="1800" b="0" i="0">
                <a:solidFill>
                  <a:srgbClr val="162A4A"/>
                </a:solidFill>
                <a:latin typeface="Calibri"/>
              </a:rPr>
              <a:t>Sur les 2 premiers axes,</a:t>
            </a:r>
          </a:p>
          <a:p>
            <a:pPr algn="l"/>
            <a:r>
              <a:rPr sz="1800" b="0" i="0">
                <a:solidFill>
                  <a:srgbClr val="162A4A"/>
                </a:solidFill>
                <a:latin typeface="Calibri"/>
              </a:rPr>
              <a:t>aucun groupe net :</a:t>
            </a:r>
          </a:p>
          <a:p>
            <a:pPr algn="l"/>
            <a:r>
              <a:rPr sz="1800" b="0" i="0">
                <a:solidFill>
                  <a:srgbClr val="162A4A"/>
                </a:solidFill>
                <a:latin typeface="Calibri"/>
              </a:rPr>
              <a:t>les races se chevauchent.</a:t>
            </a:r>
          </a:p>
          <a:p>
            <a:pPr algn="l"/>
            <a:r>
              <a:rPr sz="1800" b="0" i="0">
                <a:solidFill>
                  <a:srgbClr val="162A4A"/>
                </a:solidFill>
                <a:latin typeface="Calibri"/>
              </a:rPr>
              <a:t/>
            </a:r>
          </a:p>
          <a:p>
            <a:pPr algn="l"/>
            <a:r>
              <a:rPr sz="1800" b="0" i="0">
                <a:solidFill>
                  <a:srgbClr val="162A4A"/>
                </a:solidFill>
                <a:latin typeface="Calibri"/>
              </a:rPr>
              <a:t>→ la tâche sera difficile,</a:t>
            </a:r>
          </a:p>
          <a:p>
            <a:pPr algn="l"/>
            <a:r>
              <a:rPr sz="1800" b="0" i="0">
                <a:solidFill>
                  <a:srgbClr val="162A4A"/>
                </a:solidFill>
                <a:latin typeface="Calibri"/>
              </a:rPr>
              <a:t>quel que soit le classifieur.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33172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37B28"/>
                </a:solidFill>
                <a:latin typeface="Calibri"/>
              </a:rPr>
              <a:t>Message clé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37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62A4A"/>
                </a:solidFill>
                <a:latin typeface="Calibri"/>
              </a:rPr>
              <a:t>HOG : décrire les contours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0" y="365760"/>
            <a:ext cx="1737360" cy="457200"/>
          </a:xfrm>
          <a:prstGeom prst="rect">
            <a:avLst/>
          </a:prstGeom>
          <a:solidFill>
            <a:srgbClr val="E37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Calibri"/>
              </a:rPr>
              <a:t>2 · Caractéristiques</a:t>
            </a:r>
          </a:p>
        </p:txBody>
      </p:sp>
      <p:pic>
        <p:nvPicPr>
          <p:cNvPr id="8" name="Picture 7" descr="sobel_h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630" y="1463040"/>
            <a:ext cx="4655219" cy="4846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0" y="192024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E37B28"/>
                </a:solidFill>
                <a:latin typeface="Calibri"/>
              </a:rPr>
              <a:t>›  </a:t>
            </a:r>
            <a:r>
              <a:rPr sz="1700">
                <a:solidFill>
                  <a:srgbClr val="3C3C3C"/>
                </a:solidFill>
                <a:latin typeface="Calibri"/>
              </a:rPr>
              <a:t>La PCA voit l'allure générale,
pas les contours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E37B28"/>
                </a:solidFill>
                <a:latin typeface="Calibri"/>
              </a:rPr>
              <a:t>›  </a:t>
            </a:r>
            <a:r>
              <a:rPr sz="1700">
                <a:solidFill>
                  <a:srgbClr val="3C3C3C"/>
                </a:solidFill>
                <a:latin typeface="Calibri"/>
              </a:rPr>
              <a:t>HOG : directions des contours
par petite case (filtres Sobel)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E37B28"/>
                </a:solidFill>
                <a:latin typeface="Calibri"/>
              </a:rPr>
              <a:t>›  </a:t>
            </a:r>
            <a:r>
              <a:rPr sz="1700">
                <a:solidFill>
                  <a:srgbClr val="3C3C3C"/>
                </a:solidFill>
                <a:latin typeface="Calibri"/>
              </a:rPr>
              <a:t>On concatène PCA + HOG :
allure + contours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37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62A4A"/>
                </a:solidFill>
                <a:latin typeface="Calibri"/>
              </a:rPr>
              <a:t>kNN : normalisation, biais-variance,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0" y="365760"/>
            <a:ext cx="1737360" cy="457200"/>
          </a:xfrm>
          <a:prstGeom prst="rect">
            <a:avLst/>
          </a:prstGeom>
          <a:solidFill>
            <a:srgbClr val="E37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Calibri"/>
              </a:rPr>
              <a:t>3 · kNN</a:t>
            </a:r>
          </a:p>
        </p:txBody>
      </p:sp>
      <p:pic>
        <p:nvPicPr>
          <p:cNvPr id="8" name="Picture 7" descr="task6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4738"/>
            <a:ext cx="11247120" cy="29314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623560"/>
            <a:ext cx="3749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3C3C3C"/>
                </a:solidFill>
                <a:latin typeface="Calibri"/>
              </a:rPr>
              <a:t>Normaliser est nécessaire : sinon</a:t>
            </a:r>
          </a:p>
          <a:p>
            <a:pPr algn="ctr"/>
            <a:r>
              <a:rPr sz="1400" b="0" i="0">
                <a:solidFill>
                  <a:srgbClr val="3C3C3C"/>
                </a:solidFill>
                <a:latin typeface="Calibri"/>
              </a:rPr>
              <a:t>les grands nombres PCA écrasent le HOG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5623560"/>
            <a:ext cx="3749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3C3C3C"/>
                </a:solidFill>
                <a:latin typeface="Calibri"/>
              </a:rPr>
              <a:t>k petit = collé aux données,</a:t>
            </a:r>
          </a:p>
          <a:p>
            <a:pPr algn="ctr"/>
            <a:r>
              <a:rPr sz="1400" b="0" i="0">
                <a:solidFill>
                  <a:srgbClr val="3C3C3C"/>
                </a:solidFill>
                <a:latin typeface="Calibri"/>
              </a:rPr>
              <a:t>k grand = lissé mais moins précis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5623560"/>
            <a:ext cx="3749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3C3C3C"/>
                </a:solidFill>
                <a:latin typeface="Calibri"/>
              </a:rPr>
              <a:t>PCA + HOG ensemble = meilleure</a:t>
            </a:r>
          </a:p>
          <a:p>
            <a:pPr algn="ctr"/>
            <a:r>
              <a:rPr sz="1400" b="0" i="0">
                <a:solidFill>
                  <a:srgbClr val="3C3C3C"/>
                </a:solidFill>
                <a:latin typeface="Calibri"/>
              </a:rPr>
              <a:t>erreur de test (gain petit mais réel)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37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62A4A"/>
                </a:solidFill>
                <a:latin typeface="Calibri"/>
              </a:rPr>
              <a:t>Où le kNN se trompe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0" y="365760"/>
            <a:ext cx="1737360" cy="457200"/>
          </a:xfrm>
          <a:prstGeom prst="rect">
            <a:avLst/>
          </a:prstGeom>
          <a:solidFill>
            <a:srgbClr val="E37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Calibri"/>
              </a:rPr>
              <a:t>3 · kNN</a:t>
            </a:r>
          </a:p>
        </p:txBody>
      </p:sp>
      <p:pic>
        <p:nvPicPr>
          <p:cNvPr id="8" name="Picture 7" descr="confusion_matrix_k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592" y="1554480"/>
            <a:ext cx="5350016" cy="4663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40880" y="210312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E37B28"/>
                </a:solidFill>
                <a:latin typeface="Calibri"/>
              </a:rPr>
              <a:t>›  </a:t>
            </a:r>
            <a:r>
              <a:rPr sz="1700">
                <a:solidFill>
                  <a:srgbClr val="3C3C3C"/>
                </a:solidFill>
                <a:latin typeface="Calibri"/>
              </a:rPr>
              <a:t>kNN de référence : k=5, PCA+HOG,
normalisé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E37B28"/>
                </a:solidFill>
                <a:latin typeface="Calibri"/>
              </a:rPr>
              <a:t>›  </a:t>
            </a:r>
            <a:r>
              <a:rPr sz="1700">
                <a:solidFill>
                  <a:srgbClr val="3C3C3C"/>
                </a:solidFill>
                <a:latin typeface="Calibri"/>
              </a:rPr>
              <a:t>Prédit trop souvent Kerry blue
et chow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E37B28"/>
                </a:solidFill>
                <a:latin typeface="Calibri"/>
              </a:rPr>
              <a:t>›  </a:t>
            </a:r>
            <a:r>
              <a:rPr sz="1700">
                <a:solidFill>
                  <a:srgbClr val="3C3C3C"/>
                </a:solidFill>
                <a:latin typeface="Calibri"/>
              </a:rPr>
              <a:t>Pas assez Chihuahua et
groenendael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E37B28"/>
                </a:solidFill>
                <a:latin typeface="Calibri"/>
              </a:rPr>
              <a:t>›  </a:t>
            </a:r>
            <a:r>
              <a:rPr sz="1700">
                <a:solidFill>
                  <a:srgbClr val="3C3C3C"/>
                </a:solidFill>
                <a:latin typeface="Calibri"/>
              </a:rPr>
              <a:t>Penche vers les races qui
occupent le plus l'espace
des caractéristiques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62A4A"/>
                </a:solidFill>
                <a:latin typeface="Calibri"/>
              </a:rPr>
              <a:t>SVM : pipeline automatisé + réglage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0" y="365760"/>
            <a:ext cx="1737360" cy="457200"/>
          </a:xfrm>
          <a:prstGeom prst="rect">
            <a:avLst/>
          </a:prstGeom>
          <a:solidFill>
            <a:srgbClr val="3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Zouhair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Calibri"/>
              </a:rPr>
              <a:t>4 · SVM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3F8A5B"/>
                </a:solidFill>
                <a:latin typeface="Calibri"/>
              </a:rPr>
              <a:t>›  </a:t>
            </a:r>
            <a:r>
              <a:rPr sz="1700">
                <a:solidFill>
                  <a:srgbClr val="3C3C3C"/>
                </a:solidFill>
                <a:latin typeface="Calibri"/>
              </a:rPr>
              <a:t>Pipeline scikit-learn
(Pipeline + FeatureUnion)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3F8A5B"/>
                </a:solidFill>
                <a:latin typeface="Calibri"/>
              </a:rPr>
              <a:t>›  </a:t>
            </a:r>
            <a:r>
              <a:rPr sz="1700">
                <a:solidFill>
                  <a:srgbClr val="3C3C3C"/>
                </a:solidFill>
                <a:latin typeface="Calibri"/>
              </a:rPr>
              <a:t>Découpage train/test cohérent :
cosinus = 0,99995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3F8A5B"/>
                </a:solidFill>
                <a:latin typeface="Calibri"/>
              </a:rPr>
              <a:t>›  </a:t>
            </a:r>
            <a:r>
              <a:rPr sz="1700">
                <a:solidFill>
                  <a:srgbClr val="3C3C3C"/>
                </a:solidFill>
                <a:latin typeface="Calibri"/>
              </a:rPr>
              <a:t>GridSearchCV (CV 3 folds) :
C=10, γ=0,005, 5 axes PCA/classe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3F8A5B"/>
                </a:solidFill>
                <a:latin typeface="Calibri"/>
              </a:rPr>
              <a:t>›  </a:t>
            </a:r>
            <a:r>
              <a:rPr sz="1700">
                <a:solidFill>
                  <a:srgbClr val="3C3C3C"/>
                </a:solidFill>
                <a:latin typeface="Calibri"/>
              </a:rPr>
              <a:t>Noyau RBF &gt; linéaire (races
non séparables par des droites)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554480"/>
            <a:ext cx="5486400" cy="713232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3474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Stratégie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1554480"/>
            <a:ext cx="16459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267712"/>
            <a:ext cx="5486400" cy="71323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267712"/>
            <a:ext cx="3474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3C3C3C"/>
                </a:solidFill>
                <a:latin typeface="Calibri"/>
              </a:rPr>
              <a:t>OvO — noyau linéaire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267712"/>
            <a:ext cx="16459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 i="0">
                <a:solidFill>
                  <a:srgbClr val="3C3C3C"/>
                </a:solidFill>
                <a:latin typeface="Calibri"/>
              </a:rPr>
              <a:t>52,59 %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980944"/>
            <a:ext cx="54864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980944"/>
            <a:ext cx="3474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3C3C3C"/>
                </a:solidFill>
                <a:latin typeface="Calibri"/>
              </a:rPr>
              <a:t>OvR — noyau linéaire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2980944"/>
            <a:ext cx="16459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 i="0">
                <a:solidFill>
                  <a:srgbClr val="3C3C3C"/>
                </a:solidFill>
                <a:latin typeface="Calibri"/>
              </a:rPr>
              <a:t>48,61 %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694176"/>
            <a:ext cx="5486400" cy="71323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694176"/>
            <a:ext cx="3474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3C3C3C"/>
                </a:solidFill>
                <a:latin typeface="Calibri"/>
              </a:rPr>
              <a:t>OvO — noyau RBF réglé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3694176"/>
            <a:ext cx="16459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 i="0">
                <a:solidFill>
                  <a:srgbClr val="3C3C3C"/>
                </a:solidFill>
                <a:latin typeface="Calibri"/>
              </a:rPr>
              <a:t>58,57 %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4407408"/>
            <a:ext cx="5486400" cy="713232"/>
          </a:xfrm>
          <a:prstGeom prst="rect">
            <a:avLst/>
          </a:prstGeom>
          <a:solidFill>
            <a:srgbClr val="E9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407408"/>
            <a:ext cx="3474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3F8A5B"/>
                </a:solidFill>
                <a:latin typeface="Calibri"/>
              </a:rPr>
              <a:t>OvR — noyau RBF réglé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4407408"/>
            <a:ext cx="16459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3F8A5B"/>
                </a:solidFill>
                <a:latin typeface="Calibri"/>
              </a:rPr>
              <a:t>59,36 %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62A4A"/>
                </a:solidFill>
                <a:latin typeface="Calibri"/>
              </a:rPr>
              <a:t>SVM : meilleure diagonale, confusions restantes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0" y="365760"/>
            <a:ext cx="1737360" cy="457200"/>
          </a:xfrm>
          <a:prstGeom prst="rect">
            <a:avLst/>
          </a:prstGeom>
          <a:solidFill>
            <a:srgbClr val="3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Zouhair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Calibri"/>
              </a:rPr>
              <a:t>4 · SVM</a:t>
            </a:r>
          </a:p>
        </p:txBody>
      </p:sp>
      <p:pic>
        <p:nvPicPr>
          <p:cNvPr id="8" name="Picture 7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294" y="1463040"/>
            <a:ext cx="5391172" cy="4846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5279" y="2194560"/>
            <a:ext cx="37490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3F8A5B"/>
                </a:solidFill>
                <a:latin typeface="Calibri"/>
              </a:rPr>
              <a:t>›  </a:t>
            </a:r>
            <a:r>
              <a:rPr sz="1700">
                <a:solidFill>
                  <a:srgbClr val="3C3C3C"/>
                </a:solidFill>
                <a:latin typeface="Calibri"/>
              </a:rPr>
              <a:t>Diagonale un peu plus marquée
que le kNN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3F8A5B"/>
                </a:solidFill>
                <a:latin typeface="Calibri"/>
              </a:rPr>
              <a:t>›  </a:t>
            </a:r>
            <a:r>
              <a:rPr sz="1700">
                <a:solidFill>
                  <a:srgbClr val="3C3C3C"/>
                </a:solidFill>
                <a:latin typeface="Calibri"/>
              </a:rPr>
              <a:t>Certaines races bien reconnues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3F8A5B"/>
                </a:solidFill>
                <a:latin typeface="Calibri"/>
              </a:rPr>
              <a:t>›  </a:t>
            </a:r>
            <a:r>
              <a:rPr sz="1700">
                <a:solidFill>
                  <a:srgbClr val="3C3C3C"/>
                </a:solidFill>
                <a:latin typeface="Calibri"/>
              </a:rPr>
              <a:t>Mais confusions persistantes
entre races qui se ressemblent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62A4A"/>
                </a:solidFill>
                <a:latin typeface="Calibri"/>
              </a:rPr>
              <a:t>Pourquoi on plafonne sous les 60 %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0" y="365760"/>
            <a:ext cx="1737360" cy="457200"/>
          </a:xfrm>
          <a:prstGeom prst="rect">
            <a:avLst/>
          </a:prstGeom>
          <a:solidFill>
            <a:srgbClr val="3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Zouhair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Calibri"/>
              </a:rPr>
              <a:t>5 · Limites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11064240" cy="14630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105156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62A4A"/>
                </a:solidFill>
                <a:latin typeface="Calibri"/>
              </a:rPr>
              <a:t>Le problème n'est pas le classifieur ni le réglage : ce sont les CARACTÉRISTIQUES.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40"/>
            <a:ext cx="10424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1">
                <a:solidFill>
                  <a:srgbClr val="3F8A5B"/>
                </a:solidFill>
                <a:latin typeface="Calibri"/>
              </a:rPr>
              <a:t>›  </a:t>
            </a:r>
            <a:r>
              <a:rPr sz="1900">
                <a:solidFill>
                  <a:srgbClr val="3C3C3C"/>
                </a:solidFill>
                <a:latin typeface="Calibri"/>
              </a:rPr>
              <a:t>PCA et HOG décrivent des choses trop générales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3F8A5B"/>
                </a:solidFill>
                <a:latin typeface="Calibri"/>
              </a:rPr>
              <a:t>›  </a:t>
            </a:r>
            <a:r>
              <a:rPr sz="1900">
                <a:solidFill>
                  <a:srgbClr val="3C3C3C"/>
                </a:solidFill>
                <a:latin typeface="Calibri"/>
              </a:rPr>
              <a:t>Les races se jouent sur des détails fins : oreilles, museau, poil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3F8A5B"/>
                </a:solidFill>
                <a:latin typeface="Calibri"/>
              </a:rPr>
              <a:t>›  </a:t>
            </a:r>
            <a:r>
              <a:rPr sz="1900">
                <a:solidFill>
                  <a:srgbClr val="3C3C3C"/>
                </a:solidFill>
                <a:latin typeface="Calibri"/>
              </a:rPr>
              <a:t>On le voyait déjà : races mélangées dès le scatter PCA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3F8A5B"/>
                </a:solidFill>
                <a:latin typeface="Calibri"/>
              </a:rPr>
              <a:t>›  </a:t>
            </a:r>
            <a:r>
              <a:rPr sz="1900">
                <a:solidFill>
                  <a:srgbClr val="3C3C3C"/>
                </a:solidFill>
                <a:latin typeface="Calibri"/>
              </a:rPr>
              <a:t>Aucun réglage de k, C ou γ ne crée une séparation qui n'existe pas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62A4A"/>
                </a:solidFill>
                <a:latin typeface="Calibri"/>
              </a:rPr>
              <a:t>Transfer learning : on fait sauter le plafond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0" y="365760"/>
            <a:ext cx="1737360" cy="457200"/>
          </a:xfrm>
          <a:prstGeom prst="rect">
            <a:avLst/>
          </a:prstGeom>
          <a:solidFill>
            <a:srgbClr val="3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Zouhair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Calibri"/>
              </a:rPr>
              <a:t>5 · Limites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3F8A5B"/>
                </a:solidFill>
                <a:latin typeface="Calibri"/>
              </a:rPr>
              <a:t>›  </a:t>
            </a:r>
            <a:r>
              <a:rPr sz="1600">
                <a:solidFill>
                  <a:srgbClr val="3C3C3C"/>
                </a:solidFill>
                <a:latin typeface="Calibri"/>
              </a:rPr>
              <a:t>VGG16 pré-entraîné sur des millions
d'images, couches gelées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F8A5B"/>
                </a:solidFill>
                <a:latin typeface="Calibri"/>
              </a:rPr>
              <a:t>›  </a:t>
            </a:r>
            <a:r>
              <a:rPr sz="1600">
                <a:solidFill>
                  <a:srgbClr val="3C3C3C"/>
                </a:solidFill>
                <a:latin typeface="Calibri"/>
              </a:rPr>
              <a:t>Il remplace PCA / HOG pour calculer
les caractéristiques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F8A5B"/>
                </a:solidFill>
                <a:latin typeface="Calibri"/>
              </a:rPr>
              <a:t>›  </a:t>
            </a:r>
            <a:r>
              <a:rPr sz="1600">
                <a:solidFill>
                  <a:srgbClr val="3C3C3C"/>
                </a:solidFill>
                <a:latin typeface="Calibri"/>
              </a:rPr>
              <a:t>On ajoute une petite tête entraînée
sur nos 6 races (images couleur 224×224)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572000"/>
            <a:ext cx="5486400" cy="137160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73659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37B28"/>
                </a:solidFill>
                <a:latin typeface="Calibri"/>
              </a:rPr>
              <a:t>PCA+HOG  →  VGG16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5303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59 %   →   98 %</a:t>
            </a:r>
          </a:p>
        </p:txBody>
      </p:sp>
      <p:pic>
        <p:nvPicPr>
          <p:cNvPr id="12" name="Picture 11" descr="confusion_matrix_vgg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01583"/>
            <a:ext cx="5486400" cy="478635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0"/>
            <a:ext cx="12191695" cy="54864"/>
          </a:xfrm>
          <a:prstGeom prst="rect">
            <a:avLst/>
          </a:prstGeom>
          <a:solidFill>
            <a:srgbClr val="E37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103120"/>
            <a:ext cx="9235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b="1" sz="2100">
                <a:solidFill>
                  <a:srgbClr val="E37B28"/>
                </a:solidFill>
                <a:latin typeface="Calibri"/>
              </a:rPr>
              <a:t>›  </a:t>
            </a:r>
            <a:r>
              <a:rPr sz="2100">
                <a:solidFill>
                  <a:srgbClr val="FFFFFF"/>
                </a:solidFill>
                <a:latin typeface="Calibri"/>
              </a:rPr>
              <a:t>Chaîne complète : nettoyage → caractéristiques → classification → évaluation</a:t>
            </a:r>
          </a:p>
          <a:p>
            <a:pPr>
              <a:spcAft>
                <a:spcPts val="1800"/>
              </a:spcAft>
            </a:pPr>
            <a:r>
              <a:rPr b="1" sz="2100">
                <a:solidFill>
                  <a:srgbClr val="E37B28"/>
                </a:solidFill>
                <a:latin typeface="Calibri"/>
              </a:rPr>
              <a:t>›  </a:t>
            </a:r>
            <a:r>
              <a:rPr sz="2100">
                <a:solidFill>
                  <a:srgbClr val="FFFFFF"/>
                </a:solidFill>
                <a:latin typeface="Calibri"/>
              </a:rPr>
              <a:t>Idées clés : normalisation, compromis biais-variance, découpage équilibré</a:t>
            </a:r>
          </a:p>
          <a:p>
            <a:pPr>
              <a:spcAft>
                <a:spcPts val="1800"/>
              </a:spcAft>
            </a:pPr>
            <a:r>
              <a:rPr b="1" sz="2100">
                <a:solidFill>
                  <a:srgbClr val="E37B28"/>
                </a:solidFill>
                <a:latin typeface="Calibri"/>
              </a:rPr>
              <a:t>›  </a:t>
            </a:r>
            <a:r>
              <a:rPr sz="2100">
                <a:solidFill>
                  <a:srgbClr val="FFFFFF"/>
                </a:solidFill>
                <a:latin typeface="Calibri"/>
              </a:rPr>
              <a:t>La qualité des caractéristiques fixe la limite : ~59 % en classique</a:t>
            </a:r>
          </a:p>
          <a:p>
            <a:pPr>
              <a:spcAft>
                <a:spcPts val="1800"/>
              </a:spcAft>
            </a:pPr>
            <a:r>
              <a:rPr b="1" sz="2100">
                <a:solidFill>
                  <a:srgbClr val="E37B28"/>
                </a:solidFill>
                <a:latin typeface="Calibri"/>
              </a:rPr>
              <a:t>›  </a:t>
            </a:r>
            <a:r>
              <a:rPr sz="2100">
                <a:solidFill>
                  <a:srgbClr val="FFFFFF"/>
                </a:solidFill>
                <a:latin typeface="Calibri"/>
              </a:rPr>
              <a:t>Transfer learning (VGG16) confirme le diagnostic : 98 %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1">
                <a:solidFill>
                  <a:srgbClr val="CFDBEC"/>
                </a:solidFill>
                <a:latin typeface="Calibri"/>
              </a:rPr>
              <a:t>Merci de votre attention — des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