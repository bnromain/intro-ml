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Classification d'images de chiens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 i="1">
                <a:solidFill>
                  <a:srgbClr val="CFDBEC"/>
                </a:solidFill>
                <a:latin typeface="Calibri"/>
              </a:rPr>
              <a:t>D'un pipeline classique aux réseaux profonds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Evrard Lecureur   ·   Romain Ben   ·   Zouhair Saitout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AEB9CC"/>
                </a:solidFill>
                <a:latin typeface="Calibri"/>
              </a:rPr>
              <a:t>Polytech Nice Sophia — MAM3 — Introduction au Machine Learning</a:t>
            </a:r>
          </a:p>
          <a:p>
            <a:pPr algn="ctr"/>
            <a:r>
              <a:rPr sz="1400" b="0" i="0">
                <a:solidFill>
                  <a:srgbClr val="AEB9CC"/>
                </a:solidFill>
                <a:latin typeface="Calibri"/>
              </a:rPr>
              <a:t>Encadrants : Mahmoud Elsawy &amp; Jean-Luc Bouchot (INRIA)   ·   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62A4A"/>
                </a:solidFill>
                <a:latin typeface="Calibri"/>
              </a:rPr>
              <a:t>Le projet</a:t>
            </a:r>
          </a:p>
          <a:p>
            <a:pPr algn="l"/>
            <a:r>
              <a:rPr sz="3000" b="1" i="0">
                <a:solidFill>
                  <a:srgbClr val="162A4A"/>
                </a:solidFill>
                <a:latin typeface="Calibri"/>
              </a:rPr>
              <a:t>en bref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C3C3C"/>
                </a:solidFill>
                <a:latin typeface="Calibri"/>
              </a:rPr>
              <a:t>Reconnaître la race</a:t>
            </a:r>
          </a:p>
          <a:p>
            <a:pPr algn="l"/>
            <a:r>
              <a:rPr sz="1800" b="0" i="0">
                <a:solidFill>
                  <a:srgbClr val="3C3C3C"/>
                </a:solidFill>
                <a:latin typeface="Calibri"/>
              </a:rPr>
              <a:t>d'un chien à partir</a:t>
            </a:r>
          </a:p>
          <a:p>
            <a:pPr algn="l"/>
            <a:r>
              <a:rPr sz="1800" b="0" i="0">
                <a:solidFill>
                  <a:srgbClr val="3C3C3C"/>
                </a:solidFill>
                <a:latin typeface="Calibri"/>
              </a:rPr>
              <a:t>d'une photo.</a:t>
            </a:r>
          </a:p>
          <a:p>
            <a:pPr algn="l"/>
            <a:r>
              <a:rPr sz="1800" b="0" i="0">
                <a:solidFill>
                  <a:srgbClr val="3C3C3C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3C3C3C"/>
                </a:solidFill>
                <a:latin typeface="Calibri"/>
              </a:rPr>
              <a:t>6 races · 1 petit jeu</a:t>
            </a:r>
          </a:p>
          <a:p>
            <a:pPr algn="l"/>
            <a:r>
              <a:rPr sz="1800" b="0" i="0">
                <a:solidFill>
                  <a:srgbClr val="3C3C3C"/>
                </a:solidFill>
                <a:latin typeface="Calibri"/>
              </a:rPr>
              <a:t>de données (PASCAL VOC).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914400"/>
            <a:ext cx="109728" cy="822960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914400"/>
            <a:ext cx="5669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3C3C3C"/>
                </a:solidFill>
                <a:latin typeface="Calibri"/>
              </a:rPr>
              <a:t>1.  Données &amp; préparation des images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914400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E5E9E"/>
                </a:solidFill>
                <a:latin typeface="Calibri"/>
              </a:rPr>
              <a:t>Evrard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938528"/>
            <a:ext cx="109728" cy="82296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938528"/>
            <a:ext cx="5669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3C3C3C"/>
                </a:solidFill>
                <a:latin typeface="Calibri"/>
              </a:rPr>
              <a:t>2.  Caractéristiques : PCA &amp; HOG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1938528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37B28"/>
                </a:solidFill>
                <a:latin typeface="Calibri"/>
              </a:rPr>
              <a:t>Romain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2962656"/>
            <a:ext cx="109728" cy="82296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962656"/>
            <a:ext cx="5669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3C3C3C"/>
                </a:solidFill>
                <a:latin typeface="Calibri"/>
              </a:rPr>
              <a:t>3.  Classifieur kNN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2962656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37B28"/>
                </a:solidFill>
                <a:latin typeface="Calibri"/>
              </a:rPr>
              <a:t>Romain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3986784"/>
            <a:ext cx="109728" cy="822960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3986784"/>
            <a:ext cx="5669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3C3C3C"/>
                </a:solidFill>
                <a:latin typeface="Calibri"/>
              </a:rPr>
              <a:t>4.  Classifieur SVM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3986784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F8A5B"/>
                </a:solidFill>
                <a:latin typeface="Calibri"/>
              </a:rPr>
              <a:t>Zouhair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5010912"/>
            <a:ext cx="109728" cy="822960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5010912"/>
            <a:ext cx="5669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3C3C3C"/>
                </a:solidFill>
                <a:latin typeface="Calibri"/>
              </a:rPr>
              <a:t>5.  Limites &amp; transfer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010912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F8A5B"/>
                </a:solidFill>
                <a:latin typeface="Calibri"/>
              </a:rPr>
              <a:t>Zouhair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Les données : 6 races, classes équilibrées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Evrard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1 · Données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2E5E9E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Jeu SmallDB tiré de PASCAL VOC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5E9E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6 races : Chihuahua, basset, Kerry blue
terrier, groenendael, malinois, chow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5E9E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Un XML par photo = cadre du chien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5E9E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Classes équilibrées ?  Entropie de
Shannon  H = 1,786  ≈  ln(6) = 1,792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5E9E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→ on peut juger au simple taux
de bonnes réponses</a:t>
            </a:r>
          </a:p>
        </p:txBody>
      </p:sp>
      <p:pic>
        <p:nvPicPr>
          <p:cNvPr id="9" name="Picture 8" descr="cla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72613"/>
            <a:ext cx="5760720" cy="37699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Préparation 1 : découper autour du chien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Evrard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1 · Données</a:t>
            </a:r>
          </a:p>
        </p:txBody>
      </p:sp>
      <p:pic>
        <p:nvPicPr>
          <p:cNvPr id="8" name="Picture 7" descr="bounding_box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87725"/>
            <a:ext cx="7589520" cy="4596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201168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Beaucoup de décor parasite
sur les photos brutes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Le cadre XML sert à recadrer
sur le chien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On garde l'essentiel,
on enlève le bruit de fond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Préparation 2 : même taille, sans déformer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2E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Evrard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1 · Données</a:t>
            </a:r>
          </a:p>
        </p:txBody>
      </p:sp>
      <p:pic>
        <p:nvPicPr>
          <p:cNvPr id="8" name="Picture 7" descr="preprocessing_comparaison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6669" y="1463040"/>
            <a:ext cx="4753461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Cible : 256×256 px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On garde les proportions
(pas d'écrasement)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Bords vides à remplir :
noir / blanc / continu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2E5E9E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On garde le remplissage
continu : pas de faux
contour pour le HOG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PCA : résumer l'image sur peu d'axes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2 · Caractéristiques</a:t>
            </a:r>
          </a:p>
        </p:txBody>
      </p:sp>
      <p:pic>
        <p:nvPicPr>
          <p:cNvPr id="8" name="Picture 7" descr="pca_reconstr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14406"/>
            <a:ext cx="6400800" cy="3143588"/>
          </a:xfrm>
          <a:prstGeom prst="rect">
            <a:avLst/>
          </a:prstGeom>
        </p:spPr>
      </p:pic>
      <p:pic>
        <p:nvPicPr>
          <p:cNvPr id="9" name="Picture 8" descr="pca_approximatr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4305" y="1417320"/>
            <a:ext cx="2708030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2320" y="4480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E37B28"/>
                </a:solidFill>
                <a:latin typeface="Calibri"/>
              </a:rPr>
              <a:t>›  </a:t>
            </a:r>
            <a:r>
              <a:rPr sz="1500">
                <a:solidFill>
                  <a:srgbClr val="3C3C3C"/>
                </a:solidFill>
                <a:latin typeface="Calibri"/>
              </a:rPr>
              <a:t>256×256 = 65 536 valeurs → trop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37B28"/>
                </a:solidFill>
                <a:latin typeface="Calibri"/>
              </a:rPr>
              <a:t>›  </a:t>
            </a:r>
            <a:r>
              <a:rPr sz="1500">
                <a:solidFill>
                  <a:srgbClr val="3C3C3C"/>
                </a:solidFill>
                <a:latin typeface="Calibri"/>
              </a:rPr>
              <a:t>90 % de l'info sur très peu d'axes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37B28"/>
                </a:solidFill>
                <a:latin typeface="Calibri"/>
              </a:rPr>
              <a:t>›  </a:t>
            </a:r>
            <a:r>
              <a:rPr sz="1500">
                <a:solidFill>
                  <a:srgbClr val="3C3C3C"/>
                </a:solidFill>
                <a:latin typeface="Calibri"/>
              </a:rPr>
              <a:t>Reconstruction : flou → net quand k 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PCA : les races sont déjà mélangées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2 · Caractéristiques</a:t>
            </a:r>
          </a:p>
        </p:txBody>
      </p:sp>
      <p:pic>
        <p:nvPicPr>
          <p:cNvPr id="8" name="Picture 7" descr="pca_scatte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900" y="1463040"/>
            <a:ext cx="6150040" cy="4846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0" y="2103120"/>
            <a:ext cx="4023360" cy="2743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331720"/>
            <a:ext cx="3657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>Message clé</a:t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>Sur les 2 premiers axes,</a:t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>aucun groupe net :</a:t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>les races se chevauchent.</a:t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/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>→ la tâche sera difficile,</a:t>
            </a:r>
          </a:p>
          <a:p>
            <a:pPr algn="l"/>
            <a:r>
              <a:rPr sz="1800" b="0" i="0">
                <a:solidFill>
                  <a:srgbClr val="162A4A"/>
                </a:solidFill>
                <a:latin typeface="Calibri"/>
              </a:rPr>
              <a:t>quel que soit le classifieur.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3172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37B28"/>
                </a:solidFill>
                <a:latin typeface="Calibri"/>
              </a:rPr>
              <a:t>Message clé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HOG : décrire les contours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2 · Caractéristiques</a:t>
            </a:r>
          </a:p>
        </p:txBody>
      </p:sp>
      <p:pic>
        <p:nvPicPr>
          <p:cNvPr id="8" name="Picture 7" descr="sobel_h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630" y="1463040"/>
            <a:ext cx="4655219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La PCA voit l'allure générale,
pas les contours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HOG : directions des contours
par petite case (filtres Sobel)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On concatène PCA + HOG :
allure + contours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kNN : normalisation, biais-variance,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3 · kNN</a:t>
            </a:r>
          </a:p>
        </p:txBody>
      </p:sp>
      <p:pic>
        <p:nvPicPr>
          <p:cNvPr id="8" name="Picture 7" descr="task6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912"/>
            <a:ext cx="11247120" cy="29250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6235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3C3C3C"/>
                </a:solidFill>
                <a:latin typeface="Calibri"/>
              </a:rPr>
              <a:t>Normaliser est nécessaire : sinon</a:t>
            </a:r>
          </a:p>
          <a:p>
            <a:pPr algn="ctr"/>
            <a:r>
              <a:rPr sz="1400" b="0" i="0">
                <a:solidFill>
                  <a:srgbClr val="3C3C3C"/>
                </a:solidFill>
                <a:latin typeface="Calibri"/>
              </a:rPr>
              <a:t>les grands nombres PCA écrasent le HOG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56235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3C3C3C"/>
                </a:solidFill>
                <a:latin typeface="Calibri"/>
              </a:rPr>
              <a:t>k petit = collé aux données,</a:t>
            </a:r>
          </a:p>
          <a:p>
            <a:pPr algn="ctr"/>
            <a:r>
              <a:rPr sz="1400" b="0" i="0">
                <a:solidFill>
                  <a:srgbClr val="3C3C3C"/>
                </a:solidFill>
                <a:latin typeface="Calibri"/>
              </a:rPr>
              <a:t>k grand = lissé mais moins précis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56235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3C3C3C"/>
                </a:solidFill>
                <a:latin typeface="Calibri"/>
              </a:rPr>
              <a:t>PCA + HOG ensemble = meilleure</a:t>
            </a:r>
          </a:p>
          <a:p>
            <a:pPr algn="ctr"/>
            <a:r>
              <a:rPr sz="1400" b="0" i="0">
                <a:solidFill>
                  <a:srgbClr val="3C3C3C"/>
                </a:solidFill>
                <a:latin typeface="Calibri"/>
              </a:rPr>
              <a:t>erreur de test (gain petit mais réel)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Où le kNN se trompe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3 · kNN</a:t>
            </a:r>
          </a:p>
        </p:txBody>
      </p:sp>
      <p:pic>
        <p:nvPicPr>
          <p:cNvPr id="8" name="Picture 7" descr="confusion_matrix_k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846" y="1554480"/>
            <a:ext cx="5345507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0880" y="21031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kNN de référence : k=5, PCA+HOG,
normalisé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Prédit trop souvent Kerry blue
et chow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Pas assez Chihuahua et
groenendael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E37B28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Penche vers les races qui
occupent le plus l'espace
des caractéristiques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SVM : pipeline automatisé + réglage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Zouhair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4 · SVM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5212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Pipeline scikit-learn
(Pipeline + FeatureUnion)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Découpage train/test cohérent :
cosinus = 0,99995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GridSearchCV (CV 3 folds) :
C=5, γ=1e-4, 15 axes PCA/race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Noyau RBF &gt; linéaire (races
non séparables par des droites)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554480"/>
            <a:ext cx="5486400" cy="713232"/>
          </a:xfrm>
          <a:prstGeom prst="rect">
            <a:avLst/>
          </a:prstGeom>
          <a:solidFill>
            <a:srgbClr val="16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54480"/>
            <a:ext cx="3474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Stratégie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1554480"/>
            <a:ext cx="1645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267712"/>
            <a:ext cx="5486400" cy="71323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267712"/>
            <a:ext cx="3474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3C3C3C"/>
                </a:solidFill>
                <a:latin typeface="Calibri"/>
              </a:rPr>
              <a:t>OvO — linéaire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267712"/>
            <a:ext cx="1645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3C3C3C"/>
                </a:solidFill>
                <a:latin typeface="Calibri"/>
              </a:rPr>
              <a:t>53,78 %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980944"/>
            <a:ext cx="54864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80944"/>
            <a:ext cx="3474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3C3C3C"/>
                </a:solidFill>
                <a:latin typeface="Calibri"/>
              </a:rPr>
              <a:t>OvR — linéaire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2980944"/>
            <a:ext cx="1645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3C3C3C"/>
                </a:solidFill>
                <a:latin typeface="Calibri"/>
              </a:rPr>
              <a:t>50,60 %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694176"/>
            <a:ext cx="5486400" cy="71323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694176"/>
            <a:ext cx="3474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3C3C3C"/>
                </a:solidFill>
                <a:latin typeface="Calibri"/>
              </a:rPr>
              <a:t>OvO — RBF réglé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3694176"/>
            <a:ext cx="1645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3C3C3C"/>
                </a:solidFill>
                <a:latin typeface="Calibri"/>
              </a:rPr>
              <a:t>55,78 %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407408"/>
            <a:ext cx="5486400" cy="713232"/>
          </a:xfrm>
          <a:prstGeom prst="rect">
            <a:avLst/>
          </a:prstGeom>
          <a:solidFill>
            <a:srgbClr val="E9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407408"/>
            <a:ext cx="3474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F8A5B"/>
                </a:solidFill>
                <a:latin typeface="Calibri"/>
              </a:rPr>
              <a:t>OvR — RBF réglé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4407408"/>
            <a:ext cx="1645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3F8A5B"/>
                </a:solidFill>
                <a:latin typeface="Calibri"/>
              </a:rPr>
              <a:t>57,77 %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SVM : meilleure diagonale, confusions restantes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Zouhair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4 · SVM</a:t>
            </a:r>
          </a:p>
        </p:txBody>
      </p:sp>
      <p:pic>
        <p:nvPicPr>
          <p:cNvPr id="8" name="Picture 7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832" y="1463040"/>
            <a:ext cx="5392095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55279" y="2194560"/>
            <a:ext cx="374903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Diagonale un peu plus marquée
que le kNN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Certaines races bien reconnues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3F8A5B"/>
                </a:solidFill>
                <a:latin typeface="Calibri"/>
              </a:rPr>
              <a:t>›  </a:t>
            </a:r>
            <a:r>
              <a:rPr sz="1700">
                <a:solidFill>
                  <a:srgbClr val="3C3C3C"/>
                </a:solidFill>
                <a:latin typeface="Calibri"/>
              </a:rPr>
              <a:t>Mais confusions persistantes
entre races qui se ressemblent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Pourquoi on plafonne vers 55-58 %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Zouhair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5 · Limites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64240" cy="14630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62A4A"/>
                </a:solidFill>
                <a:latin typeface="Calibri"/>
              </a:rPr>
              <a:t>Le problème n'est pas le classifieur ni le réglage : ce sont les CARACTÉRISTIQUES.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 b="1">
                <a:solidFill>
                  <a:srgbClr val="3F8A5B"/>
                </a:solidFill>
                <a:latin typeface="Calibri"/>
              </a:rPr>
              <a:t>›  </a:t>
            </a:r>
            <a:r>
              <a:rPr sz="1900">
                <a:solidFill>
                  <a:srgbClr val="3C3C3C"/>
                </a:solidFill>
                <a:latin typeface="Calibri"/>
              </a:rPr>
              <a:t>PCA et HOG décrivent des choses trop générales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3F8A5B"/>
                </a:solidFill>
                <a:latin typeface="Calibri"/>
              </a:rPr>
              <a:t>›  </a:t>
            </a:r>
            <a:r>
              <a:rPr sz="1900">
                <a:solidFill>
                  <a:srgbClr val="3C3C3C"/>
                </a:solidFill>
                <a:latin typeface="Calibri"/>
              </a:rPr>
              <a:t>Les races se jouent sur des détails fins : oreilles, museau, poil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3F8A5B"/>
                </a:solidFill>
                <a:latin typeface="Calibri"/>
              </a:rPr>
              <a:t>›  </a:t>
            </a:r>
            <a:r>
              <a:rPr sz="1900">
                <a:solidFill>
                  <a:srgbClr val="3C3C3C"/>
                </a:solidFill>
                <a:latin typeface="Calibri"/>
              </a:rPr>
              <a:t>On le voyait déjà : races mélangées dès le scatter PCA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3F8A5B"/>
                </a:solidFill>
                <a:latin typeface="Calibri"/>
              </a:rPr>
              <a:t>›  </a:t>
            </a:r>
            <a:r>
              <a:rPr sz="1900">
                <a:solidFill>
                  <a:srgbClr val="3C3C3C"/>
                </a:solidFill>
                <a:latin typeface="Calibri"/>
              </a:rPr>
              <a:t>Aucun réglage de k, C ou γ ne crée une séparation qui n'existe pas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62A4A"/>
                </a:solidFill>
                <a:latin typeface="Calibri"/>
              </a:rPr>
              <a:t>La suite : transfer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solidFill>
            <a:srgbClr val="3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36576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Zouhair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8A8A"/>
                </a:solidFill>
                <a:latin typeface="Calibri"/>
              </a:rPr>
              <a:t>5 · 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583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3F8A5B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Réseau pré-entraîné sur des millions
d'images (VGG16, Xception)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3F8A5B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Il calcule les caractéristiques
à la place de PCA / HOG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3F8A5B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On gèle les couches, on ajoute une
petite tête entraînée sur nos 6 races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3F8A5B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Images couleur, 224×224 (VGG16)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3F8A5B"/>
                </a:solidFill>
                <a:latin typeface="Calibri"/>
              </a:rPr>
              <a:t>›  </a:t>
            </a:r>
            <a:r>
              <a:rPr sz="1800">
                <a:solidFill>
                  <a:srgbClr val="3C3C3C"/>
                </a:solidFill>
                <a:latin typeface="Calibri"/>
              </a:rPr>
              <a:t>Code écrit, pas lancé (pas de GPU
assez puissant dans le temps imparti)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103120"/>
            <a:ext cx="4114800" cy="2468880"/>
          </a:xfrm>
          <a:prstGeom prst="rect">
            <a:avLst/>
          </a:prstGeom>
          <a:solidFill>
            <a:srgbClr val="16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468880"/>
            <a:ext cx="3566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37B28"/>
                </a:solidFill>
                <a:latin typeface="Calibri"/>
              </a:rPr>
              <a:t>Gain attendu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01752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+ plusieurs dizaines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de points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vs méthodes classiques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2191695" cy="54864"/>
          </a:xfrm>
          <a:prstGeom prst="rect">
            <a:avLst/>
          </a:prstGeom>
          <a:solidFill>
            <a:srgbClr val="E3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103120"/>
            <a:ext cx="9235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b="1" sz="2100">
                <a:solidFill>
                  <a:srgbClr val="E37B28"/>
                </a:solidFill>
                <a:latin typeface="Calibri"/>
              </a:rPr>
              <a:t>›  </a:t>
            </a:r>
            <a:r>
              <a:rPr sz="2100">
                <a:solidFill>
                  <a:srgbClr val="FFFFFF"/>
                </a:solidFill>
                <a:latin typeface="Calibri"/>
              </a:rPr>
              <a:t>Chaîne complète : nettoyage → caractéristiques → classification → évaluation</a:t>
            </a:r>
          </a:p>
          <a:p>
            <a:pPr>
              <a:spcAft>
                <a:spcPts val="1800"/>
              </a:spcAft>
            </a:pPr>
            <a:r>
              <a:rPr b="1" sz="2100">
                <a:solidFill>
                  <a:srgbClr val="E37B28"/>
                </a:solidFill>
                <a:latin typeface="Calibri"/>
              </a:rPr>
              <a:t>›  </a:t>
            </a:r>
            <a:r>
              <a:rPr sz="2100">
                <a:solidFill>
                  <a:srgbClr val="FFFFFF"/>
                </a:solidFill>
                <a:latin typeface="Calibri"/>
              </a:rPr>
              <a:t>Idées clés : normalisation, compromis biais-variance, découpage équilibré</a:t>
            </a:r>
          </a:p>
          <a:p>
            <a:pPr>
              <a:spcAft>
                <a:spcPts val="1800"/>
              </a:spcAft>
            </a:pPr>
            <a:r>
              <a:rPr b="1" sz="2100">
                <a:solidFill>
                  <a:srgbClr val="E37B28"/>
                </a:solidFill>
                <a:latin typeface="Calibri"/>
              </a:rPr>
              <a:t>›  </a:t>
            </a:r>
            <a:r>
              <a:rPr sz="2100">
                <a:solidFill>
                  <a:srgbClr val="FFFFFF"/>
                </a:solidFill>
                <a:latin typeface="Calibri"/>
              </a:rPr>
              <a:t>La qualité des caractéristiques fixe la limite : ici ~57 %</a:t>
            </a:r>
          </a:p>
          <a:p>
            <a:pPr>
              <a:spcAft>
                <a:spcPts val="1800"/>
              </a:spcAft>
            </a:pPr>
            <a:r>
              <a:rPr b="1" sz="2100">
                <a:solidFill>
                  <a:srgbClr val="E37B28"/>
                </a:solidFill>
                <a:latin typeface="Calibri"/>
              </a:rPr>
              <a:t>›  </a:t>
            </a:r>
            <a:r>
              <a:rPr sz="2100">
                <a:solidFill>
                  <a:srgbClr val="FFFFFF"/>
                </a:solidFill>
                <a:latin typeface="Calibri"/>
              </a:rPr>
              <a:t>Transfer learning = suite logique pour dépasser ce plafond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1">
                <a:solidFill>
                  <a:srgbClr val="CFDBEC"/>
                </a:solidFill>
                <a:latin typeface="Calibri"/>
              </a:rPr>
              <a:t>Merci de votre attention — des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