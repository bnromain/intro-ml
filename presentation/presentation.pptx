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Classification d'images de chiens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 i="1">
                <a:solidFill>
                  <a:srgbClr val="CFDBEC"/>
                </a:solidFill>
                <a:latin typeface="Calibri"/>
              </a:rPr>
              <a:t>D'un pipeline classique aux réseaux profonds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Evrard Lecureur   ·   Romain Ben   ·   Zouhair Saitout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AEB9CC"/>
                </a:solidFill>
                <a:latin typeface="Calibri"/>
              </a:rPr>
              <a:t>Polytech Nice Sophia — MAM3 — Introduction au Machine Learning</a:t>
            </a:r>
          </a:p>
          <a:p>
            <a:pPr algn="ctr"/>
            <a:r>
              <a:rPr sz="1400" b="0" i="0">
                <a:solidFill>
                  <a:srgbClr val="AEB9CC"/>
                </a:solidFill>
                <a:latin typeface="Calibri"/>
              </a:rPr>
              <a:t>Encadrants : Mahmoud Elsawy &amp; Jean-Luc Bouchot (INRIA)   ·  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62A4A"/>
                </a:solidFill>
                <a:latin typeface="Calibri"/>
              </a:rPr>
              <a:t>Le projet</a:t>
            </a:r>
          </a:p>
          <a:p>
            <a:pPr algn="l"/>
            <a:r>
              <a:rPr sz="3000" b="1" i="0">
                <a:solidFill>
                  <a:srgbClr val="162A4A"/>
                </a:solidFill>
                <a:latin typeface="Calibri"/>
              </a:rPr>
              <a:t>en bref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>Reconnaître la race</a:t>
            </a:r>
          </a:p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>d'un chien à partir</a:t>
            </a:r>
          </a:p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>d'une photo.</a:t>
            </a:r>
          </a:p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>6 races · 1 petit jeu</a:t>
            </a:r>
          </a:p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>de données (PASCAL VOC).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914400"/>
            <a:ext cx="109728" cy="822960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914400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C3C3C"/>
                </a:solidFill>
                <a:latin typeface="Calibri"/>
              </a:rPr>
              <a:t>1.  Données &amp; préparation des images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91440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5E9E"/>
                </a:solidFill>
                <a:latin typeface="Calibri"/>
              </a:rPr>
              <a:t>Evrard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938528"/>
            <a:ext cx="109728" cy="82296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938528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C3C3C"/>
                </a:solidFill>
                <a:latin typeface="Calibri"/>
              </a:rPr>
              <a:t>2.  Caractéristiques : PCA &amp; HOG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1938528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37B28"/>
                </a:solidFill>
                <a:latin typeface="Calibri"/>
              </a:rPr>
              <a:t>Romain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2962656"/>
            <a:ext cx="109728" cy="82296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962656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C3C3C"/>
                </a:solidFill>
                <a:latin typeface="Calibri"/>
              </a:rPr>
              <a:t>3.  Classifieur kNN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2962656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37B28"/>
                </a:solidFill>
                <a:latin typeface="Calibri"/>
              </a:rPr>
              <a:t>Romain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986784"/>
            <a:ext cx="109728" cy="82296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3986784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C3C3C"/>
                </a:solidFill>
                <a:latin typeface="Calibri"/>
              </a:rPr>
              <a:t>4.  Classifieur SVM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3986784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F8A5B"/>
                </a:solidFill>
                <a:latin typeface="Calibri"/>
              </a:rPr>
              <a:t>Zouhair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5010912"/>
            <a:ext cx="109728" cy="82296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5010912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C3C3C"/>
                </a:solidFill>
                <a:latin typeface="Calibri"/>
              </a:rPr>
              <a:t>5.  Limites &amp; transfer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010912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F8A5B"/>
                </a:solidFill>
                <a:latin typeface="Calibri"/>
              </a:rPr>
              <a:t>Zouhair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Les données : 6 races, classes équilibrées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Evrard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1 · Données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2E5E9E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Jeu SmallDB tiré de PASCAL VOC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5E9E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6 races : Chihuahua, basset, Kerry blue
terrier, groenendael, malinois, chow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5E9E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Un XML par photo = cadre du chien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5E9E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Classes équilibrées ?  Entropie de
Shannon  H = 1,786  ≈  ln(6) = 1,792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5E9E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→ on peut juger au simple taux
de bonnes réponses</a:t>
            </a:r>
          </a:p>
        </p:txBody>
      </p:sp>
      <p:pic>
        <p:nvPicPr>
          <p:cNvPr id="9" name="Picture 8" descr="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72613"/>
            <a:ext cx="5760720" cy="37699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Préparation 1 : découper autour du chien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Evrard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1 · Données</a:t>
            </a:r>
          </a:p>
        </p:txBody>
      </p:sp>
      <p:pic>
        <p:nvPicPr>
          <p:cNvPr id="8" name="Picture 7" descr="bounding_box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87725"/>
            <a:ext cx="7589520" cy="4596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201168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Beaucoup de décor parasite
sur les photos brutes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Le cadre XML sert à recadrer
sur le chien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On garde l'essentiel,
on enlève le bruit de fond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Préparation 2 : même taille, sans déformer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Evrard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1 · Données</a:t>
            </a:r>
          </a:p>
        </p:txBody>
      </p:sp>
      <p:pic>
        <p:nvPicPr>
          <p:cNvPr id="8" name="Picture 7" descr="preprocessing_comparaison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6669" y="1463040"/>
            <a:ext cx="4753461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Cible : 256×256 px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On garde les proportions
(pas d'écrasement)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Bords vides à remplir :
noir / blanc / continu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On garde le remplissage
continu : pas de faux
contour pour le HOG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PCA : résumer l'image sur peu d'axes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2 · Caractéristiques</a:t>
            </a:r>
          </a:p>
        </p:txBody>
      </p:sp>
      <p:pic>
        <p:nvPicPr>
          <p:cNvPr id="8" name="Picture 7" descr="pca_reco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14406"/>
            <a:ext cx="6400800" cy="3143588"/>
          </a:xfrm>
          <a:prstGeom prst="rect">
            <a:avLst/>
          </a:prstGeom>
        </p:spPr>
      </p:pic>
      <p:pic>
        <p:nvPicPr>
          <p:cNvPr id="9" name="Picture 8" descr="pca_approximatr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4305" y="1417320"/>
            <a:ext cx="2708030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0" y="4480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E37B28"/>
                </a:solidFill>
                <a:latin typeface="Calibri"/>
              </a:rPr>
              <a:t>›  </a:t>
            </a:r>
            <a:r>
              <a:rPr sz="1500">
                <a:solidFill>
                  <a:srgbClr val="3C3C3C"/>
                </a:solidFill>
                <a:latin typeface="Calibri"/>
              </a:rPr>
              <a:t>256×256 = 65 536 valeurs → trop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37B28"/>
                </a:solidFill>
                <a:latin typeface="Calibri"/>
              </a:rPr>
              <a:t>›  </a:t>
            </a:r>
            <a:r>
              <a:rPr sz="1500">
                <a:solidFill>
                  <a:srgbClr val="3C3C3C"/>
                </a:solidFill>
                <a:latin typeface="Calibri"/>
              </a:rPr>
              <a:t>90 % de l'info sur très peu d'axes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37B28"/>
                </a:solidFill>
                <a:latin typeface="Calibri"/>
              </a:rPr>
              <a:t>›  </a:t>
            </a:r>
            <a:r>
              <a:rPr sz="1500">
                <a:solidFill>
                  <a:srgbClr val="3C3C3C"/>
                </a:solidFill>
                <a:latin typeface="Calibri"/>
              </a:rPr>
              <a:t>Reconstruction : flou → net quand k 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PCA : les races sont déjà mélangées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2 · Caractéristiques</a:t>
            </a:r>
          </a:p>
        </p:txBody>
      </p:sp>
      <p:pic>
        <p:nvPicPr>
          <p:cNvPr id="8" name="Picture 7" descr="pca_scatte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00" y="1463040"/>
            <a:ext cx="6150040" cy="4846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0" y="2103120"/>
            <a:ext cx="4023360" cy="2743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331720"/>
            <a:ext cx="3657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Message clé</a:t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Sur les 2 premiers axes,</a:t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aucun groupe net :</a:t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les races se chevauchent.</a:t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→ la tâche sera difficile,</a:t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quel que soit le classifieur.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317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37B28"/>
                </a:solidFill>
                <a:latin typeface="Calibri"/>
              </a:rPr>
              <a:t>Message clé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HOG : décrire les contours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2 · Caractéristiques</a:t>
            </a:r>
          </a:p>
        </p:txBody>
      </p:sp>
      <p:pic>
        <p:nvPicPr>
          <p:cNvPr id="8" name="Picture 7" descr="sobel_h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630" y="1463040"/>
            <a:ext cx="4655219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La PCA voit l'allure générale,
pas les contours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HOG : directions des contours
par petite case (filtres Sobel)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On concatène PCA + HOG :
allure + contours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kNN : normalisation, biais-variance,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3 · kNN</a:t>
            </a:r>
          </a:p>
        </p:txBody>
      </p:sp>
      <p:pic>
        <p:nvPicPr>
          <p:cNvPr id="8" name="Picture 7" descr="task6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912"/>
            <a:ext cx="11247120" cy="2925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6235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Normaliser est nécessaire : sinon</a:t>
            </a:r>
          </a:p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les grands nombres PCA écrasent le HOG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56235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k petit = collé aux données,</a:t>
            </a:r>
          </a:p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k grand = lissé mais moins précis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56235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PCA + HOG ensemble = meilleure</a:t>
            </a:r>
          </a:p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erreur de test (gain petit mais réel)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Où le kNN se trompe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3 · kNN</a:t>
            </a:r>
          </a:p>
        </p:txBody>
      </p:sp>
      <p:pic>
        <p:nvPicPr>
          <p:cNvPr id="8" name="Picture 7" descr="confusion_matrix_k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846" y="1554480"/>
            <a:ext cx="5345507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21031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kNN de référence : k=5, PCA+HOG,
normalisé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Prédit trop souvent Kerry blue
et chow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Pas assez Chihuahua et
groenendael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Penche vers les races qui
occupent le plus l'espace
des caractéristiques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SVM : pipeline automatisé + réglage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Zouhair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4 · SVM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5212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Pipeline scikit-learn
(Pipeline + FeatureUnion)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Découpage train/test cohérent :
cosinus = 0,99995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GridSearchCV (CV 3 folds) :
C=5, γ=1e-4, 15 axes PCA/race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Noyau RBF &gt; linéaire (races
non séparables par des droites)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554480"/>
            <a:ext cx="5486400" cy="713232"/>
          </a:xfrm>
          <a:prstGeom prst="rect">
            <a:avLst/>
          </a:prstGeom>
          <a:solidFill>
            <a:srgbClr val="16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3474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Stratégie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554480"/>
            <a:ext cx="1645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267712"/>
            <a:ext cx="5486400" cy="71323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67712"/>
            <a:ext cx="3474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3C3C3C"/>
                </a:solidFill>
                <a:latin typeface="Calibri"/>
              </a:rPr>
              <a:t>OvO — linéaire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267712"/>
            <a:ext cx="1645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3C3C3C"/>
                </a:solidFill>
                <a:latin typeface="Calibri"/>
              </a:rPr>
              <a:t>53,78 %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980944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80944"/>
            <a:ext cx="3474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3C3C3C"/>
                </a:solidFill>
                <a:latin typeface="Calibri"/>
              </a:rPr>
              <a:t>OvR — linéaire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2980944"/>
            <a:ext cx="1645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3C3C3C"/>
                </a:solidFill>
                <a:latin typeface="Calibri"/>
              </a:rPr>
              <a:t>50,60 %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694176"/>
            <a:ext cx="5486400" cy="71323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694176"/>
            <a:ext cx="3474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3C3C3C"/>
                </a:solidFill>
                <a:latin typeface="Calibri"/>
              </a:rPr>
              <a:t>OvO — RBF réglé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3694176"/>
            <a:ext cx="1645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3C3C3C"/>
                </a:solidFill>
                <a:latin typeface="Calibri"/>
              </a:rPr>
              <a:t>55,78 %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407408"/>
            <a:ext cx="5486400" cy="713232"/>
          </a:xfrm>
          <a:prstGeom prst="rect">
            <a:avLst/>
          </a:prstGeom>
          <a:solidFill>
            <a:srgbClr val="E9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407408"/>
            <a:ext cx="3474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F8A5B"/>
                </a:solidFill>
                <a:latin typeface="Calibri"/>
              </a:rPr>
              <a:t>OvR — RBF réglé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407408"/>
            <a:ext cx="1645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3F8A5B"/>
                </a:solidFill>
                <a:latin typeface="Calibri"/>
              </a:rPr>
              <a:t>57,77 %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SVM : meilleure diagonale, confusions restantes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Zouhair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4 · SVM</a:t>
            </a:r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832" y="1463040"/>
            <a:ext cx="5392095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279" y="2194560"/>
            <a:ext cx="374903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Diagonale un peu plus marquée
que le kNN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Certaines races bien reconnues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Mais confusions persistantes
entre races qui se ressemblent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Pourquoi on plafonne vers 55-58 %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Zouhair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5 · Limites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6424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62A4A"/>
                </a:solidFill>
                <a:latin typeface="Calibri"/>
              </a:rPr>
              <a:t>Le problème n'est pas le classifieur ni le réglage : ce sont les CARACTÉRISTIQUES.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 b="1">
                <a:solidFill>
                  <a:srgbClr val="3F8A5B"/>
                </a:solidFill>
                <a:latin typeface="Calibri"/>
              </a:rPr>
              <a:t>›  </a:t>
            </a:r>
            <a:r>
              <a:rPr sz="1900">
                <a:solidFill>
                  <a:srgbClr val="3C3C3C"/>
                </a:solidFill>
                <a:latin typeface="Calibri"/>
              </a:rPr>
              <a:t>PCA et HOG décrivent des choses trop générales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3F8A5B"/>
                </a:solidFill>
                <a:latin typeface="Calibri"/>
              </a:rPr>
              <a:t>›  </a:t>
            </a:r>
            <a:r>
              <a:rPr sz="1900">
                <a:solidFill>
                  <a:srgbClr val="3C3C3C"/>
                </a:solidFill>
                <a:latin typeface="Calibri"/>
              </a:rPr>
              <a:t>Les races se jouent sur des détails fins : oreilles, museau, poil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3F8A5B"/>
                </a:solidFill>
                <a:latin typeface="Calibri"/>
              </a:rPr>
              <a:t>›  </a:t>
            </a:r>
            <a:r>
              <a:rPr sz="1900">
                <a:solidFill>
                  <a:srgbClr val="3C3C3C"/>
                </a:solidFill>
                <a:latin typeface="Calibri"/>
              </a:rPr>
              <a:t>On le voyait déjà : races mélangées dès le scatter PCA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3F8A5B"/>
                </a:solidFill>
                <a:latin typeface="Calibri"/>
              </a:rPr>
              <a:t>›  </a:t>
            </a:r>
            <a:r>
              <a:rPr sz="1900">
                <a:solidFill>
                  <a:srgbClr val="3C3C3C"/>
                </a:solidFill>
                <a:latin typeface="Calibri"/>
              </a:rPr>
              <a:t>Aucun réglage de k, C ou γ ne crée une séparation qui n'existe pas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Transfer learning : on fait sauter le plafond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Zouhair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5 · 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3F8A5B"/>
                </a:solidFill>
                <a:latin typeface="Calibri"/>
              </a:rPr>
              <a:t>›  </a:t>
            </a:r>
            <a:r>
              <a:rPr sz="1600">
                <a:solidFill>
                  <a:srgbClr val="3C3C3C"/>
                </a:solidFill>
                <a:latin typeface="Calibri"/>
              </a:rPr>
              <a:t>VGG16 pré-entraîné sur des millions
d'images, couches gelées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F8A5B"/>
                </a:solidFill>
                <a:latin typeface="Calibri"/>
              </a:rPr>
              <a:t>›  </a:t>
            </a:r>
            <a:r>
              <a:rPr sz="1600">
                <a:solidFill>
                  <a:srgbClr val="3C3C3C"/>
                </a:solidFill>
                <a:latin typeface="Calibri"/>
              </a:rPr>
              <a:t>Il remplace PCA / HOG pour calculer
les caractéristiques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F8A5B"/>
                </a:solidFill>
                <a:latin typeface="Calibri"/>
              </a:rPr>
              <a:t>›  </a:t>
            </a:r>
            <a:r>
              <a:rPr sz="1600">
                <a:solidFill>
                  <a:srgbClr val="3C3C3C"/>
                </a:solidFill>
                <a:latin typeface="Calibri"/>
              </a:rPr>
              <a:t>On ajoute une petite tête entraînée
sur nos 6 races (images couleur 224×224)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572000"/>
            <a:ext cx="5486400" cy="1371600"/>
          </a:xfrm>
          <a:prstGeom prst="rect">
            <a:avLst/>
          </a:prstGeom>
          <a:solidFill>
            <a:srgbClr val="16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736592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37B28"/>
                </a:solidFill>
                <a:latin typeface="Calibri"/>
              </a:rPr>
              <a:t>PCA+HOG  →  VGG16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57 %   →   98 %</a:t>
            </a:r>
          </a:p>
        </p:txBody>
      </p:sp>
      <p:pic>
        <p:nvPicPr>
          <p:cNvPr id="12" name="Picture 11" descr="confusion_matrix_vgg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01583"/>
            <a:ext cx="5486400" cy="47863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2191695" cy="5486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235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b="1" sz="2100">
                <a:solidFill>
                  <a:srgbClr val="E37B28"/>
                </a:solidFill>
                <a:latin typeface="Calibri"/>
              </a:rPr>
              <a:t>›  </a:t>
            </a:r>
            <a:r>
              <a:rPr sz="2100">
                <a:solidFill>
                  <a:srgbClr val="FFFFFF"/>
                </a:solidFill>
                <a:latin typeface="Calibri"/>
              </a:rPr>
              <a:t>Chaîne complète : nettoyage → caractéristiques → classification → évaluation</a:t>
            </a:r>
          </a:p>
          <a:p>
            <a:pPr>
              <a:spcAft>
                <a:spcPts val="1800"/>
              </a:spcAft>
            </a:pPr>
            <a:r>
              <a:rPr b="1" sz="2100">
                <a:solidFill>
                  <a:srgbClr val="E37B28"/>
                </a:solidFill>
                <a:latin typeface="Calibri"/>
              </a:rPr>
              <a:t>›  </a:t>
            </a:r>
            <a:r>
              <a:rPr sz="2100">
                <a:solidFill>
                  <a:srgbClr val="FFFFFF"/>
                </a:solidFill>
                <a:latin typeface="Calibri"/>
              </a:rPr>
              <a:t>Idées clés : normalisation, compromis biais-variance, découpage équilibré</a:t>
            </a:r>
          </a:p>
          <a:p>
            <a:pPr>
              <a:spcAft>
                <a:spcPts val="1800"/>
              </a:spcAft>
            </a:pPr>
            <a:r>
              <a:rPr b="1" sz="2100">
                <a:solidFill>
                  <a:srgbClr val="E37B28"/>
                </a:solidFill>
                <a:latin typeface="Calibri"/>
              </a:rPr>
              <a:t>›  </a:t>
            </a:r>
            <a:r>
              <a:rPr sz="2100">
                <a:solidFill>
                  <a:srgbClr val="FFFFFF"/>
                </a:solidFill>
                <a:latin typeface="Calibri"/>
              </a:rPr>
              <a:t>La qualité des caractéristiques fixe la limite : ~57 % en classique</a:t>
            </a:r>
          </a:p>
          <a:p>
            <a:pPr>
              <a:spcAft>
                <a:spcPts val="1800"/>
              </a:spcAft>
            </a:pPr>
            <a:r>
              <a:rPr b="1" sz="2100">
                <a:solidFill>
                  <a:srgbClr val="E37B28"/>
                </a:solidFill>
                <a:latin typeface="Calibri"/>
              </a:rPr>
              <a:t>›  </a:t>
            </a:r>
            <a:r>
              <a:rPr sz="2100">
                <a:solidFill>
                  <a:srgbClr val="FFFFFF"/>
                </a:solidFill>
                <a:latin typeface="Calibri"/>
              </a:rPr>
              <a:t>Transfer learning (VGG16) confirme le diagnostic : 98 %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1">
                <a:solidFill>
                  <a:srgbClr val="CFDBEC"/>
                </a:solidFill>
                <a:latin typeface="Calibri"/>
              </a:rPr>
              <a:t>Merci de votre attention — des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